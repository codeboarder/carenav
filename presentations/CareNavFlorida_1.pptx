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5" d="100"/>
          <a:sy n="195" d="100"/>
        </p:scale>
        <p:origin x="76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7383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6.png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CareNav Florida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Elder Care Navigation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0" y="274320"/>
            <a:ext cx="2468880" cy="365760"/>
          </a:xfrm>
          <a:prstGeom prst="roundRect">
            <a:avLst>
              <a:gd name="adj" fmla="val 12500"/>
            </a:avLst>
          </a:prstGeom>
          <a:solidFill>
            <a:srgbClr val="13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0" y="274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github.com/gregnatkatz/carenav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Gregory Katz &amp; Rick Weyenberg  •  Microsoft  •  Open Source MIT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3840480" cy="640080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6479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6733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234440" y="197510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Americans turn 65 every day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340864"/>
            <a:ext cx="3840480" cy="640080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47802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23865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$500K+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234440" y="268833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with zero training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3054096"/>
            <a:ext cx="3840480" cy="640080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19125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30998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200+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1234440" y="34015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of rules per state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3767328"/>
            <a:ext cx="3840480" cy="640080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90448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3813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1234440" y="4114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days before families pay full rate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754880" y="1280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846320" y="1610566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 agents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via GitHub Copilot SDK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MCP servers 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Florida-specific rules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documents 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39 tests • Azure integration</a:t>
            </a:r>
            <a:endParaRPr lang="en-US" sz="1100" dirty="0"/>
          </a:p>
        </p:txBody>
      </p:sp>
      <p:pic>
        <p:nvPicPr>
          <p:cNvPr id="27" name="Image 4" descr="/home/claude/ai-ch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606040"/>
            <a:ext cx="4114800" cy="196596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28" name="Shape 2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365760" y="4645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228600" y="4864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700" dirty="0"/>
          </a:p>
        </p:txBody>
      </p:sp>
      <p:sp>
        <p:nvSpPr>
          <p:cNvPr id="31" name="Text 24"/>
          <p:cNvSpPr/>
          <p:nvPr/>
        </p:nvSpPr>
        <p:spPr>
          <a:xfrm>
            <a:off x="1444752" y="4645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307592" y="4864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700" dirty="0"/>
          </a:p>
        </p:txBody>
      </p:sp>
      <p:sp>
        <p:nvSpPr>
          <p:cNvPr id="33" name="Text 26"/>
          <p:cNvSpPr/>
          <p:nvPr/>
        </p:nvSpPr>
        <p:spPr>
          <a:xfrm>
            <a:off x="2523744" y="4645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2386584" y="4864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700" dirty="0"/>
          </a:p>
        </p:txBody>
      </p:sp>
      <p:sp>
        <p:nvSpPr>
          <p:cNvPr id="35" name="Text 28"/>
          <p:cNvSpPr/>
          <p:nvPr/>
        </p:nvSpPr>
        <p:spPr>
          <a:xfrm>
            <a:off x="3602736" y="4645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3465576" y="4864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</a:t>
            </a:r>
            <a:endParaRPr lang="en-US" sz="700" dirty="0"/>
          </a:p>
        </p:txBody>
      </p:sp>
      <p:sp>
        <p:nvSpPr>
          <p:cNvPr id="37" name="Text 30"/>
          <p:cNvSpPr/>
          <p:nvPr/>
        </p:nvSpPr>
        <p:spPr>
          <a:xfrm>
            <a:off x="4681728" y="4645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4544568" y="4864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700" dirty="0"/>
          </a:p>
        </p:txBody>
      </p:sp>
      <p:sp>
        <p:nvSpPr>
          <p:cNvPr id="39" name="Text 32"/>
          <p:cNvSpPr/>
          <p:nvPr/>
        </p:nvSpPr>
        <p:spPr>
          <a:xfrm>
            <a:off x="5760720" y="4645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5623560" y="4864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IQ</a:t>
            </a:r>
            <a:endParaRPr lang="en-US" sz="700" dirty="0"/>
          </a:p>
        </p:txBody>
      </p:sp>
      <p:sp>
        <p:nvSpPr>
          <p:cNvPr id="41" name="Text 34"/>
          <p:cNvSpPr/>
          <p:nvPr/>
        </p:nvSpPr>
        <p:spPr>
          <a:xfrm>
            <a:off x="6839712" y="4645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6702552" y="4864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</p:txBody>
      </p:sp>
      <p:sp>
        <p:nvSpPr>
          <p:cNvPr id="43" name="Text 36"/>
          <p:cNvSpPr/>
          <p:nvPr/>
        </p:nvSpPr>
        <p:spPr>
          <a:xfrm>
            <a:off x="7918704" y="4645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7781544" y="4864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Enterprise Value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 →  MCP Servers  →  Azure Stack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114800" cy="658368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" cy="65836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1790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Frontend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7190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• Vite • Dark Theme • 10 Tabs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468880" y="20299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2194560"/>
            <a:ext cx="4114800" cy="658368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2194560"/>
            <a:ext cx="54864" cy="65836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34086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SDK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234440" y="2542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orchestration • CLI server mode • BYOK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468880" y="28529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3017520"/>
            <a:ext cx="4114800" cy="658368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48640" y="3017520"/>
            <a:ext cx="54864" cy="658368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163824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4440" y="3090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AI Agents + 4 MCP Servers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234440" y="33649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Medicaid • VA Benefits • Facilities • Document RAG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2468880" y="36758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8640" y="3840480"/>
            <a:ext cx="4114800" cy="658368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48640" y="3840480"/>
            <a:ext cx="54864" cy="65836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986784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34440" y="3913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Integration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234440" y="4187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• AI Search + Foundry IQ • SQL Database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937760" y="10972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937760" y="1371600"/>
            <a:ext cx="3931920" cy="1463040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1435608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94960" y="1417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Systems at Scale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5120640" y="1755648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AdventHealth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55 hospitals, $19.8B revenue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care transitions annually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State-agnostic: 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MCP servers for any state's rules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for HCA, CommonSpirit, Kaiser, VA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937760" y="2971800"/>
            <a:ext cx="3931920" cy="1554480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3044952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440680" y="30449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Under the Hood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5212080" y="33375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Agents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6446520" y="3337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Orchestrator, Eligibility, Facility, Legal, Validator, Summarizer</a:t>
            </a:r>
            <a:endParaRPr lang="en-US" sz="850" dirty="0"/>
          </a:p>
        </p:txBody>
      </p:sp>
      <p:sp>
        <p:nvSpPr>
          <p:cNvPr id="39" name="Text 31"/>
          <p:cNvSpPr/>
          <p:nvPr/>
        </p:nvSpPr>
        <p:spPr>
          <a:xfrm>
            <a:off x="5212080" y="35844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MCP Servers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6446520" y="35844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Medicaid rules, VA benefits, Facility search, Document RAG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5212080" y="38313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Documents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6446520" y="38313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 medical records, bank statements, legal docs</a:t>
            </a:r>
            <a:endParaRPr lang="en-US" sz="850" dirty="0"/>
          </a:p>
        </p:txBody>
      </p:sp>
      <p:sp>
        <p:nvSpPr>
          <p:cNvPr id="43" name="Text 35"/>
          <p:cNvSpPr/>
          <p:nvPr/>
        </p:nvSpPr>
        <p:spPr>
          <a:xfrm>
            <a:off x="5212080" y="40782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39+ Tests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6446520" y="40782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pass rate — eligibility, chat, CRUD, end-to-end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5212080" y="43251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Compliant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6446520" y="43251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data, disclaimers, human-in-the-loop, auditable</a:t>
            </a:r>
            <a:endParaRPr lang="en-US" sz="850" dirty="0"/>
          </a:p>
        </p:txBody>
      </p:sp>
      <p:sp>
        <p:nvSpPr>
          <p:cNvPr id="47" name="Shape 39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CareNav Florida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GitHub Copilot SDK Enterprise Challenge  •  </a:t>
            </a: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github.com/gregnatkatz/carenav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Deadline: March 7,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→  Copilot SDK  →  Agents + MCP  →  Azure AI  →  Data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675120" y="18288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13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75120" y="182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github.com/gregnatkatz/carenav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841248"/>
            <a:ext cx="1005840" cy="640080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91440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161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1508760" y="1161288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828800" y="841248"/>
            <a:ext cx="2286000" cy="758952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828800" y="841248"/>
            <a:ext cx="228600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384" y="896173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74463" y="88468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+ TypeScript Frontend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938528" y="116128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• Tailwind • shadcn/ui • 16 components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tabs: Executive, Overview, To-Do, Money,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Places, Contacts, Medical, Insurance, Facility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4160520" y="102412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600" dirty="0"/>
          </a:p>
        </p:txBody>
      </p:sp>
      <p:sp>
        <p:nvSpPr>
          <p:cNvPr id="17" name="Shape 13"/>
          <p:cNvSpPr/>
          <p:nvPr/>
        </p:nvSpPr>
        <p:spPr>
          <a:xfrm>
            <a:off x="4160520" y="1161288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480560" y="841248"/>
            <a:ext cx="2103120" cy="713232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480560" y="841248"/>
            <a:ext cx="21031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067" y="891663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919472" y="894841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Backend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611070" y="1117854"/>
            <a:ext cx="1901952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routers • LLM abstraction layer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pattern: Azure OpenAI ↔ Copilot SDK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SQLAlchemy • Pydantic validation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6629400" y="1161288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949440" y="841247"/>
            <a:ext cx="1920240" cy="740663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949440" y="841248"/>
            <a:ext cx="192024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742" y="916686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56275" y="91249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SDK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104888" y="115671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orchestration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server mode (JSON-RPC)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BYOK: Azure OpenAI gpt-5.2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457200" y="14996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 AGENTS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5532120" y="1554480"/>
            <a:ext cx="0" cy="109728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5605272" y="155448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600" dirty="0"/>
          </a:p>
        </p:txBody>
      </p:sp>
      <p:sp>
        <p:nvSpPr>
          <p:cNvPr id="32" name="Shape 26"/>
          <p:cNvSpPr/>
          <p:nvPr/>
        </p:nvSpPr>
        <p:spPr>
          <a:xfrm>
            <a:off x="457200" y="1664208"/>
            <a:ext cx="1353312" cy="594360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457200" y="1664208"/>
            <a:ext cx="1353312" cy="3200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530352" y="171907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530352" y="192024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queries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all</a:t>
            </a:r>
            <a:endParaRPr lang="en-US" sz="700" dirty="0"/>
          </a:p>
        </p:txBody>
      </p:sp>
      <p:sp>
        <p:nvSpPr>
          <p:cNvPr id="36" name="Shape 30"/>
          <p:cNvSpPr/>
          <p:nvPr/>
        </p:nvSpPr>
        <p:spPr>
          <a:xfrm>
            <a:off x="1874520" y="1664208"/>
            <a:ext cx="1353312" cy="594360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1874520" y="1664208"/>
            <a:ext cx="1353312" cy="3200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1947672" y="171907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Eligibility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947672" y="192024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Medicaid/VA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</a:t>
            </a:r>
            <a:endParaRPr lang="en-US" sz="700" dirty="0"/>
          </a:p>
        </p:txBody>
      </p:sp>
      <p:sp>
        <p:nvSpPr>
          <p:cNvPr id="40" name="Shape 34"/>
          <p:cNvSpPr/>
          <p:nvPr/>
        </p:nvSpPr>
        <p:spPr>
          <a:xfrm>
            <a:off x="3291840" y="1664208"/>
            <a:ext cx="1353312" cy="594360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3291840" y="1664208"/>
            <a:ext cx="1353312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3364992" y="171907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Facility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3364992" y="192024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score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ALF/MC/SNF</a:t>
            </a:r>
            <a:endParaRPr lang="en-US" sz="700" dirty="0"/>
          </a:p>
        </p:txBody>
      </p:sp>
      <p:sp>
        <p:nvSpPr>
          <p:cNvPr id="44" name="Shape 38"/>
          <p:cNvSpPr/>
          <p:nvPr/>
        </p:nvSpPr>
        <p:spPr>
          <a:xfrm>
            <a:off x="4709160" y="1664208"/>
            <a:ext cx="1353312" cy="594360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4709160" y="1664208"/>
            <a:ext cx="1353312" cy="32004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4782312" y="171907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4782312" y="192024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Spend-down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rules</a:t>
            </a:r>
            <a:endParaRPr lang="en-US" sz="700" dirty="0"/>
          </a:p>
        </p:txBody>
      </p:sp>
      <p:sp>
        <p:nvSpPr>
          <p:cNvPr id="48" name="Shape 42"/>
          <p:cNvSpPr/>
          <p:nvPr/>
        </p:nvSpPr>
        <p:spPr>
          <a:xfrm>
            <a:off x="6126480" y="1664208"/>
            <a:ext cx="1353312" cy="594360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3"/>
          <p:cNvSpPr/>
          <p:nvPr/>
        </p:nvSpPr>
        <p:spPr>
          <a:xfrm>
            <a:off x="6126480" y="1664208"/>
            <a:ext cx="1353312" cy="3200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6199632" y="171907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Validator</a:t>
            </a:r>
            <a:endParaRPr lang="en-US" sz="900" dirty="0"/>
          </a:p>
        </p:txBody>
      </p:sp>
      <p:sp>
        <p:nvSpPr>
          <p:cNvPr id="51" name="Text 45"/>
          <p:cNvSpPr/>
          <p:nvPr/>
        </p:nvSpPr>
        <p:spPr>
          <a:xfrm>
            <a:off x="6199632" y="192024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numbers</a:t>
            </a:r>
            <a:endParaRPr lang="en-US" sz="700" dirty="0"/>
          </a:p>
        </p:txBody>
      </p:sp>
      <p:sp>
        <p:nvSpPr>
          <p:cNvPr id="52" name="Shape 46"/>
          <p:cNvSpPr/>
          <p:nvPr/>
        </p:nvSpPr>
        <p:spPr>
          <a:xfrm>
            <a:off x="7543800" y="1664208"/>
            <a:ext cx="1353312" cy="594360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47"/>
          <p:cNvSpPr/>
          <p:nvPr/>
        </p:nvSpPr>
        <p:spPr>
          <a:xfrm>
            <a:off x="7543800" y="1664208"/>
            <a:ext cx="1353312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8"/>
          <p:cNvSpPr/>
          <p:nvPr/>
        </p:nvSpPr>
        <p:spPr>
          <a:xfrm>
            <a:off x="7616952" y="171907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Summarizer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7616952" y="192024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plans</a:t>
            </a:r>
            <a:endParaRPr lang="en-US" sz="700" dirty="0"/>
          </a:p>
        </p:txBody>
      </p:sp>
      <p:sp>
        <p:nvSpPr>
          <p:cNvPr id="56" name="Text 50"/>
          <p:cNvSpPr/>
          <p:nvPr/>
        </p:nvSpPr>
        <p:spPr>
          <a:xfrm>
            <a:off x="45720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MCP SERVERS</a:t>
            </a:r>
            <a:endParaRPr lang="en-US" sz="800" dirty="0"/>
          </a:p>
        </p:txBody>
      </p:sp>
      <p:sp>
        <p:nvSpPr>
          <p:cNvPr id="57" name="Shape 51"/>
          <p:cNvSpPr/>
          <p:nvPr/>
        </p:nvSpPr>
        <p:spPr>
          <a:xfrm>
            <a:off x="3108960" y="2258568"/>
            <a:ext cx="0" cy="22860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2"/>
          <p:cNvSpPr/>
          <p:nvPr/>
        </p:nvSpPr>
        <p:spPr>
          <a:xfrm>
            <a:off x="3182112" y="2322576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600" dirty="0"/>
          </a:p>
        </p:txBody>
      </p:sp>
      <p:sp>
        <p:nvSpPr>
          <p:cNvPr id="59" name="Shape 53"/>
          <p:cNvSpPr/>
          <p:nvPr/>
        </p:nvSpPr>
        <p:spPr>
          <a:xfrm>
            <a:off x="457200" y="2487168"/>
            <a:ext cx="1417320" cy="777240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4"/>
          <p:cNvSpPr/>
          <p:nvPr/>
        </p:nvSpPr>
        <p:spPr>
          <a:xfrm>
            <a:off x="457200" y="2487168"/>
            <a:ext cx="36576" cy="7772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5"/>
          <p:cNvSpPr/>
          <p:nvPr/>
        </p:nvSpPr>
        <p:spPr>
          <a:xfrm>
            <a:off x="548640" y="25328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Medicaid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800" dirty="0"/>
          </a:p>
        </p:txBody>
      </p:sp>
      <p:sp>
        <p:nvSpPr>
          <p:cNvPr id="62" name="Text 56"/>
          <p:cNvSpPr/>
          <p:nvPr/>
        </p:nvSpPr>
        <p:spPr>
          <a:xfrm>
            <a:off x="548640" y="28072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ICP rules • $2K limit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60-mo look-back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Spend-down calc</a:t>
            </a:r>
            <a:endParaRPr lang="en-US" sz="650" dirty="0"/>
          </a:p>
        </p:txBody>
      </p:sp>
      <p:sp>
        <p:nvSpPr>
          <p:cNvPr id="63" name="Text 57"/>
          <p:cNvSpPr/>
          <p:nvPr/>
        </p:nvSpPr>
        <p:spPr>
          <a:xfrm>
            <a:off x="548640" y="3127248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466 lines</a:t>
            </a:r>
            <a:endParaRPr lang="en-US" sz="600" dirty="0"/>
          </a:p>
        </p:txBody>
      </p:sp>
      <p:sp>
        <p:nvSpPr>
          <p:cNvPr id="64" name="Shape 58"/>
          <p:cNvSpPr/>
          <p:nvPr/>
        </p:nvSpPr>
        <p:spPr>
          <a:xfrm>
            <a:off x="1938528" y="2487168"/>
            <a:ext cx="1417320" cy="777240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59"/>
          <p:cNvSpPr/>
          <p:nvPr/>
        </p:nvSpPr>
        <p:spPr>
          <a:xfrm>
            <a:off x="1938528" y="2487168"/>
            <a:ext cx="36576" cy="777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0"/>
          <p:cNvSpPr/>
          <p:nvPr/>
        </p:nvSpPr>
        <p:spPr>
          <a:xfrm>
            <a:off x="2029968" y="25328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 Benefits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800" dirty="0"/>
          </a:p>
        </p:txBody>
      </p:sp>
      <p:sp>
        <p:nvSpPr>
          <p:cNvPr id="67" name="Text 61"/>
          <p:cNvSpPr/>
          <p:nvPr/>
        </p:nvSpPr>
        <p:spPr>
          <a:xfrm>
            <a:off x="2029968" y="28072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&amp; Attendance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$1,432/mo survivor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docs</a:t>
            </a:r>
            <a:endParaRPr lang="en-US" sz="650" dirty="0"/>
          </a:p>
        </p:txBody>
      </p:sp>
      <p:sp>
        <p:nvSpPr>
          <p:cNvPr id="68" name="Text 62"/>
          <p:cNvSpPr/>
          <p:nvPr/>
        </p:nvSpPr>
        <p:spPr>
          <a:xfrm>
            <a:off x="2029968" y="3127248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433 lines</a:t>
            </a:r>
            <a:endParaRPr lang="en-US" sz="600" dirty="0"/>
          </a:p>
        </p:txBody>
      </p:sp>
      <p:sp>
        <p:nvSpPr>
          <p:cNvPr id="69" name="Shape 63"/>
          <p:cNvSpPr/>
          <p:nvPr/>
        </p:nvSpPr>
        <p:spPr>
          <a:xfrm>
            <a:off x="3419856" y="2487168"/>
            <a:ext cx="1417320" cy="777240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4"/>
          <p:cNvSpPr/>
          <p:nvPr/>
        </p:nvSpPr>
        <p:spPr>
          <a:xfrm>
            <a:off x="3419856" y="2487168"/>
            <a:ext cx="36576" cy="777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5"/>
          <p:cNvSpPr/>
          <p:nvPr/>
        </p:nvSpPr>
        <p:spPr>
          <a:xfrm>
            <a:off x="3511296" y="25328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Facility Search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800" dirty="0"/>
          </a:p>
        </p:txBody>
      </p:sp>
      <p:sp>
        <p:nvSpPr>
          <p:cNvPr id="72" name="Text 66"/>
          <p:cNvSpPr/>
          <p:nvPr/>
        </p:nvSpPr>
        <p:spPr>
          <a:xfrm>
            <a:off x="3511296" y="28072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ALF/MC/SNF scoring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Medicaid acceptance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gaps</a:t>
            </a:r>
            <a:endParaRPr lang="en-US" sz="650" dirty="0"/>
          </a:p>
        </p:txBody>
      </p:sp>
      <p:sp>
        <p:nvSpPr>
          <p:cNvPr id="73" name="Text 67"/>
          <p:cNvSpPr/>
          <p:nvPr/>
        </p:nvSpPr>
        <p:spPr>
          <a:xfrm>
            <a:off x="3511296" y="3127248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522 lines</a:t>
            </a:r>
            <a:endParaRPr lang="en-US" sz="600" dirty="0"/>
          </a:p>
        </p:txBody>
      </p:sp>
      <p:sp>
        <p:nvSpPr>
          <p:cNvPr id="74" name="Shape 68"/>
          <p:cNvSpPr/>
          <p:nvPr/>
        </p:nvSpPr>
        <p:spPr>
          <a:xfrm>
            <a:off x="4901184" y="2487168"/>
            <a:ext cx="1417320" cy="777240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69"/>
          <p:cNvSpPr/>
          <p:nvPr/>
        </p:nvSpPr>
        <p:spPr>
          <a:xfrm>
            <a:off x="4901184" y="2487168"/>
            <a:ext cx="36576" cy="77724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0"/>
          <p:cNvSpPr/>
          <p:nvPr/>
        </p:nvSpPr>
        <p:spPr>
          <a:xfrm>
            <a:off x="4992624" y="25328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RAG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800" dirty="0"/>
          </a:p>
        </p:txBody>
      </p:sp>
      <p:sp>
        <p:nvSpPr>
          <p:cNvPr id="77" name="Text 71"/>
          <p:cNvSpPr/>
          <p:nvPr/>
        </p:nvSpPr>
        <p:spPr>
          <a:xfrm>
            <a:off x="4992624" y="28072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patient docs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</a:t>
            </a:r>
            <a:endParaRPr lang="en-US" sz="650" dirty="0"/>
          </a:p>
        </p:txBody>
      </p:sp>
      <p:sp>
        <p:nvSpPr>
          <p:cNvPr id="78" name="Text 72"/>
          <p:cNvSpPr/>
          <p:nvPr/>
        </p:nvSpPr>
        <p:spPr>
          <a:xfrm>
            <a:off x="4992624" y="3127248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257 lines</a:t>
            </a:r>
            <a:endParaRPr lang="en-US" sz="600" dirty="0"/>
          </a:p>
        </p:txBody>
      </p:sp>
      <p:sp>
        <p:nvSpPr>
          <p:cNvPr id="79" name="Text 73"/>
          <p:cNvSpPr/>
          <p:nvPr/>
        </p:nvSpPr>
        <p:spPr>
          <a:xfrm>
            <a:off x="6537960" y="232257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STACK</a:t>
            </a:r>
            <a:endParaRPr lang="en-US" sz="800" dirty="0"/>
          </a:p>
        </p:txBody>
      </p:sp>
      <p:sp>
        <p:nvSpPr>
          <p:cNvPr id="80" name="Shape 74"/>
          <p:cNvSpPr/>
          <p:nvPr/>
        </p:nvSpPr>
        <p:spPr>
          <a:xfrm>
            <a:off x="6400800" y="1956816"/>
            <a:ext cx="18288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5"/>
          <p:cNvSpPr/>
          <p:nvPr/>
        </p:nvSpPr>
        <p:spPr>
          <a:xfrm>
            <a:off x="6583680" y="2487168"/>
            <a:ext cx="2286000" cy="475488"/>
          </a:xfrm>
          <a:prstGeom prst="rect">
            <a:avLst/>
          </a:prstGeom>
          <a:solidFill>
            <a:srgbClr val="0D1B3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Shape 76"/>
          <p:cNvSpPr/>
          <p:nvPr/>
        </p:nvSpPr>
        <p:spPr>
          <a:xfrm>
            <a:off x="8823960" y="2487168"/>
            <a:ext cx="45720" cy="4754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2569464"/>
            <a:ext cx="182880" cy="182880"/>
          </a:xfrm>
          <a:prstGeom prst="rect">
            <a:avLst/>
          </a:prstGeom>
        </p:spPr>
      </p:pic>
      <p:sp>
        <p:nvSpPr>
          <p:cNvPr id="84" name="Text 77"/>
          <p:cNvSpPr/>
          <p:nvPr/>
        </p:nvSpPr>
        <p:spPr>
          <a:xfrm>
            <a:off x="6903720" y="252374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OpenAI</a:t>
            </a:r>
            <a:endParaRPr lang="en-US" sz="900" dirty="0"/>
          </a:p>
        </p:txBody>
      </p:sp>
      <p:sp>
        <p:nvSpPr>
          <p:cNvPr id="85" name="Text 78"/>
          <p:cNvSpPr/>
          <p:nvPr/>
        </p:nvSpPr>
        <p:spPr>
          <a:xfrm>
            <a:off x="6903720" y="27066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 + gpt-5-nano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text-embedding-3-large (3072d)</a:t>
            </a:r>
            <a:endParaRPr lang="en-US" sz="700" dirty="0"/>
          </a:p>
        </p:txBody>
      </p:sp>
      <p:sp>
        <p:nvSpPr>
          <p:cNvPr id="86" name="Text 79"/>
          <p:cNvSpPr/>
          <p:nvPr/>
        </p:nvSpPr>
        <p:spPr>
          <a:xfrm>
            <a:off x="7635240" y="2962656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4748B"/>
                </a:solidFill>
              </a:rPr>
              <a:t>▼</a:t>
            </a:r>
            <a:endParaRPr lang="en-US" sz="600" dirty="0"/>
          </a:p>
        </p:txBody>
      </p:sp>
      <p:sp>
        <p:nvSpPr>
          <p:cNvPr id="87" name="Shape 80"/>
          <p:cNvSpPr/>
          <p:nvPr/>
        </p:nvSpPr>
        <p:spPr>
          <a:xfrm>
            <a:off x="6583680" y="3017520"/>
            <a:ext cx="2286000" cy="475488"/>
          </a:xfrm>
          <a:prstGeom prst="rect">
            <a:avLst/>
          </a:prstGeom>
          <a:solidFill>
            <a:srgbClr val="0D1B3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Shape 81"/>
          <p:cNvSpPr/>
          <p:nvPr/>
        </p:nvSpPr>
        <p:spPr>
          <a:xfrm>
            <a:off x="8823960" y="3017520"/>
            <a:ext cx="45720" cy="4754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3099816"/>
            <a:ext cx="182880" cy="182880"/>
          </a:xfrm>
          <a:prstGeom prst="rect">
            <a:avLst/>
          </a:prstGeom>
        </p:spPr>
      </p:pic>
      <p:sp>
        <p:nvSpPr>
          <p:cNvPr id="90" name="Text 82"/>
          <p:cNvSpPr/>
          <p:nvPr/>
        </p:nvSpPr>
        <p:spPr>
          <a:xfrm>
            <a:off x="6903720" y="30540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AI Search</a:t>
            </a:r>
            <a:endParaRPr lang="en-US" sz="900" dirty="0"/>
          </a:p>
        </p:txBody>
      </p:sp>
      <p:sp>
        <p:nvSpPr>
          <p:cNvPr id="91" name="Text 83"/>
          <p:cNvSpPr/>
          <p:nvPr/>
        </p:nvSpPr>
        <p:spPr>
          <a:xfrm>
            <a:off x="6903720" y="32369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vector + semantic ranking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Foundry IQ agentic retrieval</a:t>
            </a:r>
            <a:endParaRPr lang="en-US" sz="700" dirty="0"/>
          </a:p>
        </p:txBody>
      </p:sp>
      <p:sp>
        <p:nvSpPr>
          <p:cNvPr id="92" name="Text 84"/>
          <p:cNvSpPr/>
          <p:nvPr/>
        </p:nvSpPr>
        <p:spPr>
          <a:xfrm>
            <a:off x="457200" y="33284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00" dirty="0"/>
          </a:p>
        </p:txBody>
      </p:sp>
      <p:sp>
        <p:nvSpPr>
          <p:cNvPr id="93" name="Shape 85"/>
          <p:cNvSpPr/>
          <p:nvPr/>
        </p:nvSpPr>
        <p:spPr>
          <a:xfrm>
            <a:off x="3108960" y="3264408"/>
            <a:ext cx="0" cy="22860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86"/>
          <p:cNvSpPr/>
          <p:nvPr/>
        </p:nvSpPr>
        <p:spPr>
          <a:xfrm>
            <a:off x="457200" y="3493008"/>
            <a:ext cx="2011680" cy="713232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5" name="Shape 87"/>
          <p:cNvSpPr/>
          <p:nvPr/>
        </p:nvSpPr>
        <p:spPr>
          <a:xfrm>
            <a:off x="457200" y="4169664"/>
            <a:ext cx="20116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3584448"/>
            <a:ext cx="182880" cy="182880"/>
          </a:xfrm>
          <a:prstGeom prst="rect">
            <a:avLst/>
          </a:prstGeom>
        </p:spPr>
      </p:pic>
      <p:sp>
        <p:nvSpPr>
          <p:cNvPr id="97" name="Text 88"/>
          <p:cNvSpPr/>
          <p:nvPr/>
        </p:nvSpPr>
        <p:spPr>
          <a:xfrm>
            <a:off x="804672" y="35661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SQL Database</a:t>
            </a:r>
            <a:endParaRPr lang="en-US" sz="900" dirty="0"/>
          </a:p>
        </p:txBody>
      </p:sp>
      <p:sp>
        <p:nvSpPr>
          <p:cNvPr id="98" name="Text 89"/>
          <p:cNvSpPr/>
          <p:nvPr/>
        </p:nvSpPr>
        <p:spPr>
          <a:xfrm>
            <a:off x="548640" y="3794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SQLAlchemy models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Tasks, Documents,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Financials, Facilities, Insurance</a:t>
            </a:r>
            <a:endParaRPr lang="en-US" sz="700" dirty="0"/>
          </a:p>
        </p:txBody>
      </p:sp>
      <p:sp>
        <p:nvSpPr>
          <p:cNvPr id="99" name="Shape 90"/>
          <p:cNvSpPr/>
          <p:nvPr/>
        </p:nvSpPr>
        <p:spPr>
          <a:xfrm>
            <a:off x="2560320" y="3493008"/>
            <a:ext cx="2011680" cy="713232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" name="Shape 91"/>
          <p:cNvSpPr/>
          <p:nvPr/>
        </p:nvSpPr>
        <p:spPr>
          <a:xfrm>
            <a:off x="2560320" y="4169664"/>
            <a:ext cx="2011680" cy="36576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0" y="3584448"/>
            <a:ext cx="182880" cy="182880"/>
          </a:xfrm>
          <a:prstGeom prst="rect">
            <a:avLst/>
          </a:prstGeom>
        </p:spPr>
      </p:pic>
      <p:sp>
        <p:nvSpPr>
          <p:cNvPr id="102" name="Text 92"/>
          <p:cNvSpPr/>
          <p:nvPr/>
        </p:nvSpPr>
        <p:spPr>
          <a:xfrm>
            <a:off x="2907792" y="35661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Knowledge Base</a:t>
            </a:r>
            <a:endParaRPr lang="en-US" sz="900" dirty="0"/>
          </a:p>
        </p:txBody>
      </p:sp>
      <p:sp>
        <p:nvSpPr>
          <p:cNvPr id="103" name="Text 93"/>
          <p:cNvSpPr/>
          <p:nvPr/>
        </p:nvSpPr>
        <p:spPr>
          <a:xfrm>
            <a:off x="2651760" y="3794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FL elder law policy docs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Medicaid ICP, VA A&amp;A, ALF regs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via AI Search</a:t>
            </a:r>
            <a:endParaRPr lang="en-US" sz="700" dirty="0"/>
          </a:p>
        </p:txBody>
      </p:sp>
      <p:sp>
        <p:nvSpPr>
          <p:cNvPr id="104" name="Shape 94"/>
          <p:cNvSpPr/>
          <p:nvPr/>
        </p:nvSpPr>
        <p:spPr>
          <a:xfrm>
            <a:off x="4663440" y="3493008"/>
            <a:ext cx="2011680" cy="713232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5" name="Shape 95"/>
          <p:cNvSpPr/>
          <p:nvPr/>
        </p:nvSpPr>
        <p:spPr>
          <a:xfrm>
            <a:off x="4663440" y="4169664"/>
            <a:ext cx="20116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3584448"/>
            <a:ext cx="182880" cy="182880"/>
          </a:xfrm>
          <a:prstGeom prst="rect">
            <a:avLst/>
          </a:prstGeom>
        </p:spPr>
      </p:pic>
      <p:sp>
        <p:nvSpPr>
          <p:cNvPr id="107" name="Text 96"/>
          <p:cNvSpPr/>
          <p:nvPr/>
        </p:nvSpPr>
        <p:spPr>
          <a:xfrm>
            <a:off x="5010912" y="35661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Fabric</a:t>
            </a:r>
            <a:endParaRPr lang="en-US" sz="900" dirty="0"/>
          </a:p>
        </p:txBody>
      </p:sp>
      <p:sp>
        <p:nvSpPr>
          <p:cNvPr id="108" name="Text 97"/>
          <p:cNvSpPr/>
          <p:nvPr/>
        </p:nvSpPr>
        <p:spPr>
          <a:xfrm>
            <a:off x="4754880" y="3794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lakehouse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transition insights</a:t>
            </a:r>
            <a:endParaRPr lang="en-US" sz="700" dirty="0"/>
          </a:p>
        </p:txBody>
      </p:sp>
      <p:sp>
        <p:nvSpPr>
          <p:cNvPr id="109" name="Shape 98"/>
          <p:cNvSpPr/>
          <p:nvPr/>
        </p:nvSpPr>
        <p:spPr>
          <a:xfrm>
            <a:off x="6675120" y="3581710"/>
            <a:ext cx="2286000" cy="740662"/>
          </a:xfrm>
          <a:prstGeom prst="rect">
            <a:avLst/>
          </a:prstGeom>
          <a:solidFill>
            <a:srgbClr val="131B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0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2820" y="3584448"/>
            <a:ext cx="164592" cy="164592"/>
          </a:xfrm>
          <a:prstGeom prst="rect">
            <a:avLst/>
          </a:prstGeom>
        </p:spPr>
      </p:pic>
      <p:sp>
        <p:nvSpPr>
          <p:cNvPr id="111" name="Text 99"/>
          <p:cNvSpPr/>
          <p:nvPr/>
        </p:nvSpPr>
        <p:spPr>
          <a:xfrm>
            <a:off x="6949440" y="358019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 + Quality</a:t>
            </a:r>
            <a:endParaRPr lang="en-US" sz="850" dirty="0"/>
          </a:p>
        </p:txBody>
      </p:sp>
      <p:sp>
        <p:nvSpPr>
          <p:cNvPr id="112" name="Text 100"/>
          <p:cNvSpPr/>
          <p:nvPr/>
        </p:nvSpPr>
        <p:spPr>
          <a:xfrm>
            <a:off x="6897412" y="378790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39+ tests </a:t>
            </a: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100% pass rate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only, no PII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decisions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legal/medical advice</a:t>
            </a:r>
            <a:endParaRPr lang="en-US" sz="700" dirty="0"/>
          </a:p>
        </p:txBody>
      </p:sp>
      <p:sp>
        <p:nvSpPr>
          <p:cNvPr id="113" name="Shape 10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02"/>
          <p:cNvSpPr/>
          <p:nvPr/>
        </p:nvSpPr>
        <p:spPr>
          <a:xfrm>
            <a:off x="274320" y="46451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14,500+</a:t>
            </a:r>
            <a:endParaRPr lang="en-US" sz="1100" dirty="0"/>
          </a:p>
        </p:txBody>
      </p:sp>
      <p:sp>
        <p:nvSpPr>
          <p:cNvPr id="115" name="Text 103"/>
          <p:cNvSpPr/>
          <p:nvPr/>
        </p:nvSpPr>
        <p:spPr>
          <a:xfrm>
            <a:off x="182880" y="48554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650" dirty="0"/>
          </a:p>
        </p:txBody>
      </p:sp>
      <p:sp>
        <p:nvSpPr>
          <p:cNvPr id="116" name="Text 104"/>
          <p:cNvSpPr/>
          <p:nvPr/>
        </p:nvSpPr>
        <p:spPr>
          <a:xfrm>
            <a:off x="1371600" y="46451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100" dirty="0"/>
          </a:p>
        </p:txBody>
      </p:sp>
      <p:sp>
        <p:nvSpPr>
          <p:cNvPr id="117" name="Text 105"/>
          <p:cNvSpPr/>
          <p:nvPr/>
        </p:nvSpPr>
        <p:spPr>
          <a:xfrm>
            <a:off x="1280160" y="48554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650" dirty="0"/>
          </a:p>
        </p:txBody>
      </p:sp>
      <p:sp>
        <p:nvSpPr>
          <p:cNvPr id="118" name="Text 106"/>
          <p:cNvSpPr/>
          <p:nvPr/>
        </p:nvSpPr>
        <p:spPr>
          <a:xfrm>
            <a:off x="2468880" y="46451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119" name="Text 107"/>
          <p:cNvSpPr/>
          <p:nvPr/>
        </p:nvSpPr>
        <p:spPr>
          <a:xfrm>
            <a:off x="2377440" y="48554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650" dirty="0"/>
          </a:p>
        </p:txBody>
      </p:sp>
      <p:sp>
        <p:nvSpPr>
          <p:cNvPr id="120" name="Text 108"/>
          <p:cNvSpPr/>
          <p:nvPr/>
        </p:nvSpPr>
        <p:spPr>
          <a:xfrm>
            <a:off x="3566160" y="46451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121" name="Text 109"/>
          <p:cNvSpPr/>
          <p:nvPr/>
        </p:nvSpPr>
        <p:spPr>
          <a:xfrm>
            <a:off x="3474720" y="48554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650" dirty="0"/>
          </a:p>
        </p:txBody>
      </p:sp>
      <p:sp>
        <p:nvSpPr>
          <p:cNvPr id="122" name="Text 110"/>
          <p:cNvSpPr/>
          <p:nvPr/>
        </p:nvSpPr>
        <p:spPr>
          <a:xfrm>
            <a:off x="4663440" y="46451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</a:t>
            </a:r>
            <a:endParaRPr lang="en-US" sz="1100" dirty="0"/>
          </a:p>
        </p:txBody>
      </p:sp>
      <p:sp>
        <p:nvSpPr>
          <p:cNvPr id="123" name="Text 111"/>
          <p:cNvSpPr/>
          <p:nvPr/>
        </p:nvSpPr>
        <p:spPr>
          <a:xfrm>
            <a:off x="4572000" y="48554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docs</a:t>
            </a:r>
            <a:endParaRPr lang="en-US" sz="650" dirty="0"/>
          </a:p>
        </p:txBody>
      </p:sp>
      <p:sp>
        <p:nvSpPr>
          <p:cNvPr id="124" name="Text 112"/>
          <p:cNvSpPr/>
          <p:nvPr/>
        </p:nvSpPr>
        <p:spPr>
          <a:xfrm>
            <a:off x="5760720" y="46451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39+</a:t>
            </a:r>
            <a:endParaRPr lang="en-US" sz="1100" dirty="0"/>
          </a:p>
        </p:txBody>
      </p:sp>
      <p:sp>
        <p:nvSpPr>
          <p:cNvPr id="125" name="Text 113"/>
          <p:cNvSpPr/>
          <p:nvPr/>
        </p:nvSpPr>
        <p:spPr>
          <a:xfrm>
            <a:off x="5669280" y="48554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650" dirty="0"/>
          </a:p>
        </p:txBody>
      </p:sp>
      <p:sp>
        <p:nvSpPr>
          <p:cNvPr id="126" name="Text 114"/>
          <p:cNvSpPr/>
          <p:nvPr/>
        </p:nvSpPr>
        <p:spPr>
          <a:xfrm>
            <a:off x="6858000" y="46451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100" dirty="0"/>
          </a:p>
        </p:txBody>
      </p:sp>
      <p:sp>
        <p:nvSpPr>
          <p:cNvPr id="127" name="Text 115"/>
          <p:cNvSpPr/>
          <p:nvPr/>
        </p:nvSpPr>
        <p:spPr>
          <a:xfrm>
            <a:off x="6766560" y="48554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650" dirty="0"/>
          </a:p>
        </p:txBody>
      </p:sp>
      <p:sp>
        <p:nvSpPr>
          <p:cNvPr id="128" name="Text 116"/>
          <p:cNvSpPr/>
          <p:nvPr/>
        </p:nvSpPr>
        <p:spPr>
          <a:xfrm>
            <a:off x="7955280" y="46451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100" dirty="0"/>
          </a:p>
        </p:txBody>
      </p:sp>
      <p:sp>
        <p:nvSpPr>
          <p:cNvPr id="129" name="Text 117"/>
          <p:cNvSpPr/>
          <p:nvPr/>
        </p:nvSpPr>
        <p:spPr>
          <a:xfrm>
            <a:off x="7863840" y="48554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620</Words>
  <Application>Microsoft Office PowerPoint</Application>
  <PresentationFormat>On-screen Show (16:9)</PresentationFormat>
  <Paragraphs>178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CareNav Florida — AI-Powered Elder Care Navigation</dc:title>
  <dc:subject>PptxGenJS Presentation</dc:subject>
  <dc:creator>Gregory Katz and Rick Weyenberg</dc:creator>
  <cp:lastModifiedBy>Greg Katz</cp:lastModifiedBy>
  <cp:revision>2</cp:revision>
  <dcterms:created xsi:type="dcterms:W3CDTF">2026-02-19T16:08:00Z</dcterms:created>
  <dcterms:modified xsi:type="dcterms:W3CDTF">2026-02-19T16:11:57Z</dcterms:modified>
</cp:coreProperties>
</file>